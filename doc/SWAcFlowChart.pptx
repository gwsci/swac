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7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704" y="-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27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14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03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82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945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21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982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24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039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38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58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23AE3-324D-4D21-BBB3-FEF65430FFAF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1D4DC-5F72-4441-8F67-88152F6A06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72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D82E91-1E8D-897B-2326-17449457CC48}"/>
              </a:ext>
            </a:extLst>
          </p:cNvPr>
          <p:cNvSpPr/>
          <p:nvPr/>
        </p:nvSpPr>
        <p:spPr>
          <a:xfrm>
            <a:off x="591312" y="573024"/>
            <a:ext cx="859536" cy="3901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Unutilised PE</a:t>
            </a:r>
          </a:p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(PE – AE)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AC8FD6-C85A-97CB-EEF5-B0F3B75C0312}"/>
              </a:ext>
            </a:extLst>
          </p:cNvPr>
          <p:cNvSpPr/>
          <p:nvPr/>
        </p:nvSpPr>
        <p:spPr>
          <a:xfrm>
            <a:off x="591312" y="1263904"/>
            <a:ext cx="859536" cy="2560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AE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0AF819-5A43-0AE1-14D9-95B56D723E67}"/>
              </a:ext>
            </a:extLst>
          </p:cNvPr>
          <p:cNvCxnSpPr>
            <a:cxnSpLocks/>
            <a:stCxn id="16" idx="0"/>
            <a:endCxn id="6" idx="2"/>
          </p:cNvCxnSpPr>
          <p:nvPr/>
        </p:nvCxnSpPr>
        <p:spPr>
          <a:xfrm flipV="1">
            <a:off x="1021080" y="963168"/>
            <a:ext cx="0" cy="300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4909B880-98F3-0A53-74B7-2D50F303F696}"/>
              </a:ext>
            </a:extLst>
          </p:cNvPr>
          <p:cNvSpPr/>
          <p:nvPr/>
        </p:nvSpPr>
        <p:spPr>
          <a:xfrm>
            <a:off x="2225041" y="457200"/>
            <a:ext cx="1493519" cy="62179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Evapotranspiration</a:t>
            </a:r>
          </a:p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(PE)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13528D5-7ABC-B925-C1EB-F0F88A88E6F8}"/>
              </a:ext>
            </a:extLst>
          </p:cNvPr>
          <p:cNvSpPr/>
          <p:nvPr/>
        </p:nvSpPr>
        <p:spPr>
          <a:xfrm>
            <a:off x="3980689" y="612648"/>
            <a:ext cx="768096" cy="31089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Rainfall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911E84-0345-DB0B-A56A-022289284C24}"/>
              </a:ext>
            </a:extLst>
          </p:cNvPr>
          <p:cNvCxnSpPr>
            <a:cxnSpLocks/>
            <a:stCxn id="20" idx="2"/>
            <a:endCxn id="6" idx="3"/>
          </p:cNvCxnSpPr>
          <p:nvPr/>
        </p:nvCxnSpPr>
        <p:spPr>
          <a:xfrm flipH="1">
            <a:off x="1450848" y="768096"/>
            <a:ext cx="7741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057292A-7BB4-2FBA-AAEA-E8E8B608756A}"/>
              </a:ext>
            </a:extLst>
          </p:cNvPr>
          <p:cNvSpPr/>
          <p:nvPr/>
        </p:nvSpPr>
        <p:spPr>
          <a:xfrm>
            <a:off x="2529840" y="1847088"/>
            <a:ext cx="883920" cy="2560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Interception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51480BE-6144-5879-F5BF-83F548E4B129}"/>
              </a:ext>
            </a:extLst>
          </p:cNvPr>
          <p:cNvCxnSpPr>
            <a:stCxn id="20" idx="4"/>
            <a:endCxn id="24" idx="0"/>
          </p:cNvCxnSpPr>
          <p:nvPr/>
        </p:nvCxnSpPr>
        <p:spPr>
          <a:xfrm flipH="1">
            <a:off x="2971800" y="1078992"/>
            <a:ext cx="1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A547609-247B-EEE6-D783-90F64A2B69E9}"/>
              </a:ext>
            </a:extLst>
          </p:cNvPr>
          <p:cNvSpPr txBox="1"/>
          <p:nvPr/>
        </p:nvSpPr>
        <p:spPr>
          <a:xfrm>
            <a:off x="4636773" y="1222643"/>
            <a:ext cx="76809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Open water evaporation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4A02F9F-E80F-D2AB-532E-B4A61D32C159}"/>
              </a:ext>
            </a:extLst>
          </p:cNvPr>
          <p:cNvSpPr/>
          <p:nvPr/>
        </p:nvSpPr>
        <p:spPr>
          <a:xfrm>
            <a:off x="3691761" y="1668779"/>
            <a:ext cx="340362" cy="6126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Bypass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9B7D8A4-BEDF-2827-8A2E-9212A5F05221}"/>
              </a:ext>
            </a:extLst>
          </p:cNvPr>
          <p:cNvSpPr txBox="1"/>
          <p:nvPr/>
        </p:nvSpPr>
        <p:spPr>
          <a:xfrm>
            <a:off x="1361948" y="1805827"/>
            <a:ext cx="76809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Canopy evaporation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0731FC4B-28C1-23FB-560D-D16B9F7C47DE}"/>
              </a:ext>
            </a:extLst>
          </p:cNvPr>
          <p:cNvCxnSpPr>
            <a:stCxn id="86" idx="1"/>
            <a:endCxn id="16" idx="2"/>
          </p:cNvCxnSpPr>
          <p:nvPr/>
        </p:nvCxnSpPr>
        <p:spPr>
          <a:xfrm rot="10800000">
            <a:off x="1021080" y="1519936"/>
            <a:ext cx="340868" cy="45516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5F137D24-E4AB-004B-453D-30FF15992BC6}"/>
              </a:ext>
            </a:extLst>
          </p:cNvPr>
          <p:cNvSpPr/>
          <p:nvPr/>
        </p:nvSpPr>
        <p:spPr>
          <a:xfrm>
            <a:off x="2504440" y="2664966"/>
            <a:ext cx="934720" cy="2966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Precipitation as rainfall or snow</a:t>
            </a: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7BE3E4B-D41F-0ABA-429A-61781E7FA718}"/>
              </a:ext>
            </a:extLst>
          </p:cNvPr>
          <p:cNvGrpSpPr/>
          <p:nvPr/>
        </p:nvGrpSpPr>
        <p:grpSpPr>
          <a:xfrm>
            <a:off x="3128010" y="929753"/>
            <a:ext cx="1236727" cy="917335"/>
            <a:chOff x="3128010" y="929753"/>
            <a:chExt cx="1236727" cy="917335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362F292-A1AF-BA6D-F836-2B7793D96C86}"/>
                </a:ext>
              </a:extLst>
            </p:cNvPr>
            <p:cNvSpPr/>
            <p:nvPr/>
          </p:nvSpPr>
          <p:spPr>
            <a:xfrm>
              <a:off x="3128010" y="929753"/>
              <a:ext cx="1236727" cy="227976"/>
            </a:xfrm>
            <a:custGeom>
              <a:avLst/>
              <a:gdLst>
                <a:gd name="connsiteX0" fmla="*/ 0 w 1258825"/>
                <a:gd name="connsiteY0" fmla="*/ 0 h 697992"/>
                <a:gd name="connsiteX1" fmla="*/ 1258825 w 1258825"/>
                <a:gd name="connsiteY1" fmla="*/ 0 h 697992"/>
                <a:gd name="connsiteX2" fmla="*/ 1258825 w 1258825"/>
                <a:gd name="connsiteY2" fmla="*/ 697992 h 697992"/>
                <a:gd name="connsiteX3" fmla="*/ 0 w 1258825"/>
                <a:gd name="connsiteY3" fmla="*/ 697992 h 697992"/>
                <a:gd name="connsiteX4" fmla="*/ 0 w 1258825"/>
                <a:gd name="connsiteY4" fmla="*/ 0 h 697992"/>
                <a:gd name="connsiteX0" fmla="*/ 1258825 w 1258825"/>
                <a:gd name="connsiteY0" fmla="*/ 0 h 697992"/>
                <a:gd name="connsiteX1" fmla="*/ 1258825 w 1258825"/>
                <a:gd name="connsiteY1" fmla="*/ 697992 h 697992"/>
                <a:gd name="connsiteX2" fmla="*/ 0 w 1258825"/>
                <a:gd name="connsiteY2" fmla="*/ 697992 h 697992"/>
                <a:gd name="connsiteX3" fmla="*/ 91440 w 1258825"/>
                <a:gd name="connsiteY3" fmla="*/ 91440 h 697992"/>
                <a:gd name="connsiteX0" fmla="*/ 1258825 w 1258825"/>
                <a:gd name="connsiteY0" fmla="*/ 0 h 697992"/>
                <a:gd name="connsiteX1" fmla="*/ 1258825 w 1258825"/>
                <a:gd name="connsiteY1" fmla="*/ 697992 h 697992"/>
                <a:gd name="connsiteX2" fmla="*/ 0 w 1258825"/>
                <a:gd name="connsiteY2" fmla="*/ 697992 h 697992"/>
                <a:gd name="connsiteX3" fmla="*/ 91440 w 1258825"/>
                <a:gd name="connsiteY3" fmla="*/ 91440 h 697992"/>
                <a:gd name="connsiteX0" fmla="*/ 1258825 w 1258825"/>
                <a:gd name="connsiteY0" fmla="*/ 0 h 697992"/>
                <a:gd name="connsiteX1" fmla="*/ 1258825 w 1258825"/>
                <a:gd name="connsiteY1" fmla="*/ 697992 h 697992"/>
                <a:gd name="connsiteX2" fmla="*/ 0 w 1258825"/>
                <a:gd name="connsiteY2" fmla="*/ 697992 h 69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58825" h="697992">
                  <a:moveTo>
                    <a:pt x="1258825" y="0"/>
                  </a:moveTo>
                  <a:lnTo>
                    <a:pt x="1258825" y="697992"/>
                  </a:lnTo>
                  <a:lnTo>
                    <a:pt x="0" y="697992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7B4E2AFF-F206-6687-41D3-421179C24344}"/>
                </a:ext>
              </a:extLst>
            </p:cNvPr>
            <p:cNvCxnSpPr>
              <a:cxnSpLocks/>
              <a:stCxn id="117" idx="2"/>
            </p:cNvCxnSpPr>
            <p:nvPr/>
          </p:nvCxnSpPr>
          <p:spPr>
            <a:xfrm>
              <a:off x="3128010" y="1157729"/>
              <a:ext cx="0" cy="6893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E042A819-9926-F374-E9F6-4FC4EC49B13D}"/>
              </a:ext>
            </a:extLst>
          </p:cNvPr>
          <p:cNvCxnSpPr>
            <a:stCxn id="24" idx="2"/>
            <a:endCxn id="116" idx="0"/>
          </p:cNvCxnSpPr>
          <p:nvPr/>
        </p:nvCxnSpPr>
        <p:spPr>
          <a:xfrm>
            <a:off x="2971800" y="2103120"/>
            <a:ext cx="0" cy="561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3796C728-D412-C629-284D-1AB450DFCDA6}"/>
              </a:ext>
            </a:extLst>
          </p:cNvPr>
          <p:cNvCxnSpPr>
            <a:endCxn id="85" idx="0"/>
          </p:cNvCxnSpPr>
          <p:nvPr/>
        </p:nvCxnSpPr>
        <p:spPr>
          <a:xfrm>
            <a:off x="3128010" y="1543867"/>
            <a:ext cx="733932" cy="12491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E733CCC-5D48-0789-AC14-2FDBC73E155C}"/>
              </a:ext>
            </a:extLst>
          </p:cNvPr>
          <p:cNvGrpSpPr/>
          <p:nvPr/>
        </p:nvGrpSpPr>
        <p:grpSpPr>
          <a:xfrm>
            <a:off x="1450848" y="1263904"/>
            <a:ext cx="3185925" cy="256032"/>
            <a:chOff x="1450848" y="1263904"/>
            <a:chExt cx="3185925" cy="256032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5FAAA43F-F3B5-B94E-D9E2-99F29F79A842}"/>
                </a:ext>
              </a:extLst>
            </p:cNvPr>
            <p:cNvCxnSpPr>
              <a:cxnSpLocks/>
              <a:stCxn id="132" idx="0"/>
              <a:endCxn id="16" idx="3"/>
            </p:cNvCxnSpPr>
            <p:nvPr/>
          </p:nvCxnSpPr>
          <p:spPr>
            <a:xfrm flipH="1" flipV="1">
              <a:off x="1450848" y="1391920"/>
              <a:ext cx="1414315" cy="275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Arc 131">
              <a:extLst>
                <a:ext uri="{FF2B5EF4-FFF2-40B4-BE49-F238E27FC236}">
                  <a16:creationId xmlns:a16="http://schemas.microsoft.com/office/drawing/2014/main" id="{E7B2B37D-0C27-8C7F-003A-32E60E71432A}"/>
                </a:ext>
              </a:extLst>
            </p:cNvPr>
            <p:cNvSpPr/>
            <p:nvPr/>
          </p:nvSpPr>
          <p:spPr>
            <a:xfrm>
              <a:off x="2865120" y="1263904"/>
              <a:ext cx="371727" cy="256032"/>
            </a:xfrm>
            <a:prstGeom prst="arc">
              <a:avLst>
                <a:gd name="adj1" fmla="val 10749058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4B28A8DF-EF6B-DB66-4A36-4A21127070FC}"/>
                </a:ext>
              </a:extLst>
            </p:cNvPr>
            <p:cNvCxnSpPr>
              <a:stCxn id="82" idx="1"/>
            </p:cNvCxnSpPr>
            <p:nvPr/>
          </p:nvCxnSpPr>
          <p:spPr>
            <a:xfrm flipH="1">
              <a:off x="3236847" y="1391920"/>
              <a:ext cx="139992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FB4D41B-C237-4030-50A7-42FC2E9ECE69}"/>
              </a:ext>
            </a:extLst>
          </p:cNvPr>
          <p:cNvGrpSpPr/>
          <p:nvPr/>
        </p:nvGrpSpPr>
        <p:grpSpPr>
          <a:xfrm>
            <a:off x="2130044" y="1772034"/>
            <a:ext cx="445455" cy="406137"/>
            <a:chOff x="2130044" y="1772034"/>
            <a:chExt cx="445455" cy="406137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17E0FD1-5DC9-9580-A416-71C4A0E7A629}"/>
                </a:ext>
              </a:extLst>
            </p:cNvPr>
            <p:cNvCxnSpPr>
              <a:cxnSpLocks/>
              <a:stCxn id="136" idx="1"/>
              <a:endCxn id="86" idx="3"/>
            </p:cNvCxnSpPr>
            <p:nvPr/>
          </p:nvCxnSpPr>
          <p:spPr>
            <a:xfrm flipH="1">
              <a:off x="2130044" y="1975103"/>
              <a:ext cx="334965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Left Bracket 135">
              <a:extLst>
                <a:ext uri="{FF2B5EF4-FFF2-40B4-BE49-F238E27FC236}">
                  <a16:creationId xmlns:a16="http://schemas.microsoft.com/office/drawing/2014/main" id="{396D436B-D677-8753-F6C1-53BB41A86264}"/>
                </a:ext>
              </a:extLst>
            </p:cNvPr>
            <p:cNvSpPr/>
            <p:nvPr/>
          </p:nvSpPr>
          <p:spPr>
            <a:xfrm>
              <a:off x="2465009" y="1772034"/>
              <a:ext cx="110490" cy="406137"/>
            </a:xfrm>
            <a:prstGeom prst="leftBracket">
              <a:avLst>
                <a:gd name="adj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CAB50268-D802-1B23-B195-0834F87E718B}"/>
              </a:ext>
            </a:extLst>
          </p:cNvPr>
          <p:cNvCxnSpPr>
            <a:stCxn id="85" idx="4"/>
          </p:cNvCxnSpPr>
          <p:nvPr/>
        </p:nvCxnSpPr>
        <p:spPr>
          <a:xfrm rot="5400000">
            <a:off x="3351720" y="1901507"/>
            <a:ext cx="130303" cy="8901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DB69974F-5AD4-9086-98AC-FE9D85FB86EE}"/>
              </a:ext>
            </a:extLst>
          </p:cNvPr>
          <p:cNvSpPr/>
          <p:nvPr/>
        </p:nvSpPr>
        <p:spPr>
          <a:xfrm>
            <a:off x="1721125" y="3498594"/>
            <a:ext cx="934720" cy="2966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Snowpack</a:t>
            </a:r>
          </a:p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[PE*]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0E81ABD4-1028-F4E3-0BBC-14B7A73135A0}"/>
              </a:ext>
            </a:extLst>
          </p:cNvPr>
          <p:cNvSpPr/>
          <p:nvPr/>
        </p:nvSpPr>
        <p:spPr>
          <a:xfrm>
            <a:off x="968632" y="2386257"/>
            <a:ext cx="1109472" cy="3385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Temperature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AE11A55B-C071-C9A0-4D6D-44165101863F}"/>
              </a:ext>
            </a:extLst>
          </p:cNvPr>
          <p:cNvSpPr/>
          <p:nvPr/>
        </p:nvSpPr>
        <p:spPr>
          <a:xfrm>
            <a:off x="925768" y="2874149"/>
            <a:ext cx="934720" cy="3385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Solar flux</a:t>
            </a:r>
          </a:p>
        </p:txBody>
      </p: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641C1544-5036-A8DA-9F16-91DF9286F270}"/>
              </a:ext>
            </a:extLst>
          </p:cNvPr>
          <p:cNvCxnSpPr>
            <a:stCxn id="143" idx="6"/>
            <a:endCxn id="142" idx="0"/>
          </p:cNvCxnSpPr>
          <p:nvPr/>
        </p:nvCxnSpPr>
        <p:spPr>
          <a:xfrm>
            <a:off x="2078104" y="2555534"/>
            <a:ext cx="110381" cy="94306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565C6945-64CF-97F8-4066-973B23DD5123}"/>
              </a:ext>
            </a:extLst>
          </p:cNvPr>
          <p:cNvCxnSpPr>
            <a:endCxn id="116" idx="1"/>
          </p:cNvCxnSpPr>
          <p:nvPr/>
        </p:nvCxnSpPr>
        <p:spPr>
          <a:xfrm>
            <a:off x="2188485" y="2555534"/>
            <a:ext cx="315955" cy="25776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08F62839-7E61-C4BE-CDC8-4D274197CA90}"/>
              </a:ext>
            </a:extLst>
          </p:cNvPr>
          <p:cNvCxnSpPr>
            <a:stCxn id="144" idx="6"/>
          </p:cNvCxnSpPr>
          <p:nvPr/>
        </p:nvCxnSpPr>
        <p:spPr>
          <a:xfrm>
            <a:off x="1860488" y="3043426"/>
            <a:ext cx="217616" cy="45516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F1F549F-D033-1855-B0F3-5D2C402EDB5E}"/>
              </a:ext>
            </a:extLst>
          </p:cNvPr>
          <p:cNvGrpSpPr/>
          <p:nvPr/>
        </p:nvGrpSpPr>
        <p:grpSpPr>
          <a:xfrm>
            <a:off x="2295720" y="2961637"/>
            <a:ext cx="570150" cy="536957"/>
            <a:chOff x="3128010" y="929753"/>
            <a:chExt cx="1236727" cy="917335"/>
          </a:xfrm>
        </p:grpSpPr>
        <p:sp>
          <p:nvSpPr>
            <p:cNvPr id="157" name="Rectangle 116">
              <a:extLst>
                <a:ext uri="{FF2B5EF4-FFF2-40B4-BE49-F238E27FC236}">
                  <a16:creationId xmlns:a16="http://schemas.microsoft.com/office/drawing/2014/main" id="{D18F5688-2AB8-0963-55DA-4A852D580F14}"/>
                </a:ext>
              </a:extLst>
            </p:cNvPr>
            <p:cNvSpPr/>
            <p:nvPr/>
          </p:nvSpPr>
          <p:spPr>
            <a:xfrm>
              <a:off x="3128010" y="929753"/>
              <a:ext cx="1236727" cy="310894"/>
            </a:xfrm>
            <a:custGeom>
              <a:avLst/>
              <a:gdLst>
                <a:gd name="connsiteX0" fmla="*/ 0 w 1258825"/>
                <a:gd name="connsiteY0" fmla="*/ 0 h 697992"/>
                <a:gd name="connsiteX1" fmla="*/ 1258825 w 1258825"/>
                <a:gd name="connsiteY1" fmla="*/ 0 h 697992"/>
                <a:gd name="connsiteX2" fmla="*/ 1258825 w 1258825"/>
                <a:gd name="connsiteY2" fmla="*/ 697992 h 697992"/>
                <a:gd name="connsiteX3" fmla="*/ 0 w 1258825"/>
                <a:gd name="connsiteY3" fmla="*/ 697992 h 697992"/>
                <a:gd name="connsiteX4" fmla="*/ 0 w 1258825"/>
                <a:gd name="connsiteY4" fmla="*/ 0 h 697992"/>
                <a:gd name="connsiteX0" fmla="*/ 1258825 w 1258825"/>
                <a:gd name="connsiteY0" fmla="*/ 0 h 697992"/>
                <a:gd name="connsiteX1" fmla="*/ 1258825 w 1258825"/>
                <a:gd name="connsiteY1" fmla="*/ 697992 h 697992"/>
                <a:gd name="connsiteX2" fmla="*/ 0 w 1258825"/>
                <a:gd name="connsiteY2" fmla="*/ 697992 h 697992"/>
                <a:gd name="connsiteX3" fmla="*/ 91440 w 1258825"/>
                <a:gd name="connsiteY3" fmla="*/ 91440 h 697992"/>
                <a:gd name="connsiteX0" fmla="*/ 1258825 w 1258825"/>
                <a:gd name="connsiteY0" fmla="*/ 0 h 697992"/>
                <a:gd name="connsiteX1" fmla="*/ 1258825 w 1258825"/>
                <a:gd name="connsiteY1" fmla="*/ 697992 h 697992"/>
                <a:gd name="connsiteX2" fmla="*/ 0 w 1258825"/>
                <a:gd name="connsiteY2" fmla="*/ 697992 h 697992"/>
                <a:gd name="connsiteX3" fmla="*/ 91440 w 1258825"/>
                <a:gd name="connsiteY3" fmla="*/ 91440 h 697992"/>
                <a:gd name="connsiteX0" fmla="*/ 1258825 w 1258825"/>
                <a:gd name="connsiteY0" fmla="*/ 0 h 697992"/>
                <a:gd name="connsiteX1" fmla="*/ 1258825 w 1258825"/>
                <a:gd name="connsiteY1" fmla="*/ 697992 h 697992"/>
                <a:gd name="connsiteX2" fmla="*/ 0 w 1258825"/>
                <a:gd name="connsiteY2" fmla="*/ 697992 h 69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58825" h="697992">
                  <a:moveTo>
                    <a:pt x="1258825" y="0"/>
                  </a:moveTo>
                  <a:lnTo>
                    <a:pt x="1258825" y="697992"/>
                  </a:lnTo>
                  <a:lnTo>
                    <a:pt x="0" y="697992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9B8B1D7A-D0DD-1F36-9D69-ACAB56C1D5AB}"/>
                </a:ext>
              </a:extLst>
            </p:cNvPr>
            <p:cNvCxnSpPr>
              <a:stCxn id="157" idx="2"/>
            </p:cNvCxnSpPr>
            <p:nvPr/>
          </p:nvCxnSpPr>
          <p:spPr>
            <a:xfrm>
              <a:off x="3128010" y="1240647"/>
              <a:ext cx="0" cy="6064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7BDB9DD7-7AAC-669B-43E2-51E08779DFC1}"/>
              </a:ext>
            </a:extLst>
          </p:cNvPr>
          <p:cNvCxnSpPr>
            <a:cxnSpLocks/>
            <a:stCxn id="116" idx="2"/>
            <a:endCxn id="172" idx="0"/>
          </p:cNvCxnSpPr>
          <p:nvPr/>
        </p:nvCxnSpPr>
        <p:spPr>
          <a:xfrm>
            <a:off x="2971800" y="2961636"/>
            <a:ext cx="0" cy="12053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83527AFB-F1CB-521C-9DA4-E02F096CD6DC}"/>
              </a:ext>
            </a:extLst>
          </p:cNvPr>
          <p:cNvSpPr txBox="1"/>
          <p:nvPr/>
        </p:nvSpPr>
        <p:spPr>
          <a:xfrm>
            <a:off x="584584" y="3485561"/>
            <a:ext cx="76809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Sublimation evaporation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9E91A4D-948F-BD10-BFE1-1E5E753ADA80}"/>
              </a:ext>
            </a:extLst>
          </p:cNvPr>
          <p:cNvGrpSpPr/>
          <p:nvPr/>
        </p:nvGrpSpPr>
        <p:grpSpPr>
          <a:xfrm>
            <a:off x="1352680" y="3448434"/>
            <a:ext cx="399000" cy="406137"/>
            <a:chOff x="2176499" y="1772034"/>
            <a:chExt cx="399000" cy="406137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47F55E1A-3A4C-7443-C4BB-0B673286C5E3}"/>
                </a:ext>
              </a:extLst>
            </p:cNvPr>
            <p:cNvCxnSpPr>
              <a:cxnSpLocks/>
              <a:stCxn id="164" idx="1"/>
              <a:endCxn id="161" idx="3"/>
            </p:cNvCxnSpPr>
            <p:nvPr/>
          </p:nvCxnSpPr>
          <p:spPr>
            <a:xfrm flipH="1">
              <a:off x="2176499" y="1975103"/>
              <a:ext cx="288510" cy="33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Left Bracket 163">
              <a:extLst>
                <a:ext uri="{FF2B5EF4-FFF2-40B4-BE49-F238E27FC236}">
                  <a16:creationId xmlns:a16="http://schemas.microsoft.com/office/drawing/2014/main" id="{C6B7627B-4BF3-35C7-27A7-BA15FA3B3357}"/>
                </a:ext>
              </a:extLst>
            </p:cNvPr>
            <p:cNvSpPr/>
            <p:nvPr/>
          </p:nvSpPr>
          <p:spPr>
            <a:xfrm>
              <a:off x="2465009" y="1772034"/>
              <a:ext cx="110490" cy="406137"/>
            </a:xfrm>
            <a:prstGeom prst="leftBracket">
              <a:avLst>
                <a:gd name="adj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EA03030F-9372-24C2-7E19-30260CC5ADFF}"/>
              </a:ext>
            </a:extLst>
          </p:cNvPr>
          <p:cNvCxnSpPr>
            <a:cxnSpLocks/>
            <a:stCxn id="161" idx="1"/>
          </p:cNvCxnSpPr>
          <p:nvPr/>
        </p:nvCxnSpPr>
        <p:spPr>
          <a:xfrm flipH="1">
            <a:off x="207942" y="3654838"/>
            <a:ext cx="3766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90A3E211-2C18-A959-727C-E1F3219CE874}"/>
              </a:ext>
            </a:extLst>
          </p:cNvPr>
          <p:cNvSpPr/>
          <p:nvPr/>
        </p:nvSpPr>
        <p:spPr>
          <a:xfrm>
            <a:off x="2504440" y="4167003"/>
            <a:ext cx="934720" cy="2966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Proportion of rainfall to runoff</a:t>
            </a:r>
          </a:p>
        </p:txBody>
      </p: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C4F6D389-F770-3510-96A5-6C22186D169D}"/>
              </a:ext>
            </a:extLst>
          </p:cNvPr>
          <p:cNvCxnSpPr>
            <a:stCxn id="142" idx="2"/>
          </p:cNvCxnSpPr>
          <p:nvPr/>
        </p:nvCxnSpPr>
        <p:spPr>
          <a:xfrm rot="16200000" flipH="1">
            <a:off x="2508004" y="3475744"/>
            <a:ext cx="144276" cy="78331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6201BE0A-F522-285C-D475-4571D167F5E4}"/>
              </a:ext>
            </a:extLst>
          </p:cNvPr>
          <p:cNvSpPr/>
          <p:nvPr/>
        </p:nvSpPr>
        <p:spPr>
          <a:xfrm>
            <a:off x="5260848" y="4170438"/>
            <a:ext cx="934720" cy="2966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Surface flow attenuation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3469314C-13D6-ED92-2561-1FDAD9EFF66B}"/>
              </a:ext>
            </a:extLst>
          </p:cNvPr>
          <p:cNvCxnSpPr>
            <a:stCxn id="172" idx="3"/>
            <a:endCxn id="179" idx="1"/>
          </p:cNvCxnSpPr>
          <p:nvPr/>
        </p:nvCxnSpPr>
        <p:spPr>
          <a:xfrm>
            <a:off x="3439160" y="4315338"/>
            <a:ext cx="1821688" cy="34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87F34BAD-B878-BC4D-FCEC-8865E560F9D2}"/>
              </a:ext>
            </a:extLst>
          </p:cNvPr>
          <p:cNvSpPr/>
          <p:nvPr/>
        </p:nvSpPr>
        <p:spPr>
          <a:xfrm>
            <a:off x="3836098" y="2915096"/>
            <a:ext cx="1169733" cy="50042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Surface water discharge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CE258672-7DD9-1A3F-08DE-75BAA360DAB6}"/>
              </a:ext>
            </a:extLst>
          </p:cNvPr>
          <p:cNvSpPr/>
          <p:nvPr/>
        </p:nvSpPr>
        <p:spPr>
          <a:xfrm>
            <a:off x="5110162" y="2915096"/>
            <a:ext cx="1169733" cy="50042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Surface water abstraction</a:t>
            </a:r>
          </a:p>
        </p:txBody>
      </p: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32101939-B5A0-AF66-62F7-B0568B85CE36}"/>
              </a:ext>
            </a:extLst>
          </p:cNvPr>
          <p:cNvCxnSpPr>
            <a:cxnSpLocks/>
            <a:stCxn id="182" idx="4"/>
          </p:cNvCxnSpPr>
          <p:nvPr/>
        </p:nvCxnSpPr>
        <p:spPr>
          <a:xfrm rot="16200000" flipH="1">
            <a:off x="4249774" y="3586713"/>
            <a:ext cx="899814" cy="55743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0D0C4978-70B0-B820-2B99-79AF8B0DA985}"/>
              </a:ext>
            </a:extLst>
          </p:cNvPr>
          <p:cNvCxnSpPr>
            <a:cxnSpLocks/>
            <a:endCxn id="183" idx="4"/>
          </p:cNvCxnSpPr>
          <p:nvPr/>
        </p:nvCxnSpPr>
        <p:spPr>
          <a:xfrm rot="5400000" flipH="1" flipV="1">
            <a:off x="4961869" y="3582177"/>
            <a:ext cx="899814" cy="56650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D154DD80-36B9-9F0B-1863-695FC9FA59B5}"/>
              </a:ext>
            </a:extLst>
          </p:cNvPr>
          <p:cNvSpPr/>
          <p:nvPr/>
        </p:nvSpPr>
        <p:spPr>
          <a:xfrm>
            <a:off x="5260848" y="4859286"/>
            <a:ext cx="934720" cy="2966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Surface ponding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4F105C1A-F049-CE1D-3CE0-EA113A8F3800}"/>
              </a:ext>
            </a:extLst>
          </p:cNvPr>
          <p:cNvSpPr/>
          <p:nvPr/>
        </p:nvSpPr>
        <p:spPr>
          <a:xfrm>
            <a:off x="6193535" y="1391920"/>
            <a:ext cx="218686" cy="3571240"/>
          </a:xfrm>
          <a:custGeom>
            <a:avLst/>
            <a:gdLst>
              <a:gd name="connsiteX0" fmla="*/ 0 w 1407160"/>
              <a:gd name="connsiteY0" fmla="*/ 0 h 525256"/>
              <a:gd name="connsiteX1" fmla="*/ 1407160 w 1407160"/>
              <a:gd name="connsiteY1" fmla="*/ 0 h 525256"/>
              <a:gd name="connsiteX2" fmla="*/ 1407160 w 1407160"/>
              <a:gd name="connsiteY2" fmla="*/ 525256 h 525256"/>
              <a:gd name="connsiteX3" fmla="*/ 0 w 1407160"/>
              <a:gd name="connsiteY3" fmla="*/ 525256 h 525256"/>
              <a:gd name="connsiteX4" fmla="*/ 0 w 1407160"/>
              <a:gd name="connsiteY4" fmla="*/ 0 h 525256"/>
              <a:gd name="connsiteX0" fmla="*/ 1407160 w 1407160"/>
              <a:gd name="connsiteY0" fmla="*/ 0 h 525256"/>
              <a:gd name="connsiteX1" fmla="*/ 1407160 w 1407160"/>
              <a:gd name="connsiteY1" fmla="*/ 525256 h 525256"/>
              <a:gd name="connsiteX2" fmla="*/ 0 w 1407160"/>
              <a:gd name="connsiteY2" fmla="*/ 525256 h 525256"/>
              <a:gd name="connsiteX3" fmla="*/ 91440 w 1407160"/>
              <a:gd name="connsiteY3" fmla="*/ 91440 h 525256"/>
              <a:gd name="connsiteX0" fmla="*/ 1407160 w 1407160"/>
              <a:gd name="connsiteY0" fmla="*/ 0 h 525256"/>
              <a:gd name="connsiteX1" fmla="*/ 1407160 w 1407160"/>
              <a:gd name="connsiteY1" fmla="*/ 525256 h 525256"/>
              <a:gd name="connsiteX2" fmla="*/ 0 w 1407160"/>
              <a:gd name="connsiteY2" fmla="*/ 525256 h 525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7160" h="525256">
                <a:moveTo>
                  <a:pt x="1407160" y="0"/>
                </a:moveTo>
                <a:lnTo>
                  <a:pt x="1407160" y="525256"/>
                </a:lnTo>
                <a:lnTo>
                  <a:pt x="0" y="525256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D4AD42A9-4C7A-34C5-AFE5-5E585D663B86}"/>
              </a:ext>
            </a:extLst>
          </p:cNvPr>
          <p:cNvCxnSpPr>
            <a:stCxn id="194" idx="0"/>
            <a:endCxn id="82" idx="3"/>
          </p:cNvCxnSpPr>
          <p:nvPr/>
        </p:nvCxnSpPr>
        <p:spPr>
          <a:xfrm flipH="1">
            <a:off x="5404869" y="1391920"/>
            <a:ext cx="10073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4B6CA21-59DC-0FE5-74DA-A6220F6E1569}"/>
              </a:ext>
            </a:extLst>
          </p:cNvPr>
          <p:cNvGrpSpPr/>
          <p:nvPr/>
        </p:nvGrpSpPr>
        <p:grpSpPr>
          <a:xfrm>
            <a:off x="4752084" y="768096"/>
            <a:ext cx="1837690" cy="4300341"/>
            <a:chOff x="4691931" y="772000"/>
            <a:chExt cx="1840211" cy="4296436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E420565-B4C1-65D1-6675-0A12DEA858C1}"/>
                </a:ext>
              </a:extLst>
            </p:cNvPr>
            <p:cNvSpPr/>
            <p:nvPr/>
          </p:nvSpPr>
          <p:spPr>
            <a:xfrm>
              <a:off x="4691931" y="772000"/>
              <a:ext cx="1840211" cy="4296436"/>
            </a:xfrm>
            <a:custGeom>
              <a:avLst/>
              <a:gdLst>
                <a:gd name="connsiteX0" fmla="*/ 0 w 1574800"/>
                <a:gd name="connsiteY0" fmla="*/ 0 h 285262"/>
                <a:gd name="connsiteX1" fmla="*/ 1574800 w 1574800"/>
                <a:gd name="connsiteY1" fmla="*/ 0 h 285262"/>
                <a:gd name="connsiteX2" fmla="*/ 1574800 w 1574800"/>
                <a:gd name="connsiteY2" fmla="*/ 285262 h 285262"/>
                <a:gd name="connsiteX3" fmla="*/ 0 w 1574800"/>
                <a:gd name="connsiteY3" fmla="*/ 285262 h 285262"/>
                <a:gd name="connsiteX4" fmla="*/ 0 w 1574800"/>
                <a:gd name="connsiteY4" fmla="*/ 0 h 285262"/>
                <a:gd name="connsiteX0" fmla="*/ 0 w 1574800"/>
                <a:gd name="connsiteY0" fmla="*/ 0 h 376702"/>
                <a:gd name="connsiteX1" fmla="*/ 1574800 w 1574800"/>
                <a:gd name="connsiteY1" fmla="*/ 0 h 376702"/>
                <a:gd name="connsiteX2" fmla="*/ 1574800 w 1574800"/>
                <a:gd name="connsiteY2" fmla="*/ 285262 h 376702"/>
                <a:gd name="connsiteX3" fmla="*/ 91440 w 1574800"/>
                <a:gd name="connsiteY3" fmla="*/ 376702 h 376702"/>
                <a:gd name="connsiteX0" fmla="*/ 0 w 1574800"/>
                <a:gd name="connsiteY0" fmla="*/ 0 h 285262"/>
                <a:gd name="connsiteX1" fmla="*/ 1574800 w 1574800"/>
                <a:gd name="connsiteY1" fmla="*/ 0 h 285262"/>
                <a:gd name="connsiteX2" fmla="*/ 1574800 w 1574800"/>
                <a:gd name="connsiteY2" fmla="*/ 285262 h 28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4800" h="285262">
                  <a:moveTo>
                    <a:pt x="0" y="0"/>
                  </a:moveTo>
                  <a:lnTo>
                    <a:pt x="1574800" y="0"/>
                  </a:lnTo>
                  <a:lnTo>
                    <a:pt x="1574800" y="285262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FD14E57F-BC29-5087-1439-A13BBC87DEA5}"/>
                </a:ext>
              </a:extLst>
            </p:cNvPr>
            <p:cNvCxnSpPr>
              <a:cxnSpLocks/>
              <a:stCxn id="197" idx="2"/>
            </p:cNvCxnSpPr>
            <p:nvPr/>
          </p:nvCxnSpPr>
          <p:spPr>
            <a:xfrm flipH="1">
              <a:off x="6135359" y="5068436"/>
              <a:ext cx="39678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77BDADB2-FD17-9E33-B860-E9973DBE2AE9}"/>
              </a:ext>
            </a:extLst>
          </p:cNvPr>
          <p:cNvCxnSpPr>
            <a:stCxn id="179" idx="2"/>
            <a:endCxn id="190" idx="0"/>
          </p:cNvCxnSpPr>
          <p:nvPr/>
        </p:nvCxnSpPr>
        <p:spPr>
          <a:xfrm>
            <a:off x="5728208" y="4467108"/>
            <a:ext cx="0" cy="392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7CAA261B-CDB8-6A08-E561-FC459BEB9752}"/>
              </a:ext>
            </a:extLst>
          </p:cNvPr>
          <p:cNvSpPr/>
          <p:nvPr/>
        </p:nvSpPr>
        <p:spPr>
          <a:xfrm>
            <a:off x="5258815" y="5491746"/>
            <a:ext cx="934720" cy="22632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Surface flow</a:t>
            </a:r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3DC40B44-7C51-3875-FDE4-B9D6AB566E8C}"/>
              </a:ext>
            </a:extLst>
          </p:cNvPr>
          <p:cNvCxnSpPr>
            <a:stCxn id="190" idx="2"/>
            <a:endCxn id="206" idx="0"/>
          </p:cNvCxnSpPr>
          <p:nvPr/>
        </p:nvCxnSpPr>
        <p:spPr>
          <a:xfrm flipH="1">
            <a:off x="5726175" y="5155956"/>
            <a:ext cx="2033" cy="3357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CE823B51-2EB9-41D7-7381-BE24F5F0F38A}"/>
              </a:ext>
            </a:extLst>
          </p:cNvPr>
          <p:cNvSpPr/>
          <p:nvPr/>
        </p:nvSpPr>
        <p:spPr>
          <a:xfrm>
            <a:off x="3841834" y="4769225"/>
            <a:ext cx="243504" cy="103860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Macropore bypass</a:t>
            </a: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F431BBD7-AA32-F66B-3F95-695C5B804D02}"/>
              </a:ext>
            </a:extLst>
          </p:cNvPr>
          <p:cNvSpPr/>
          <p:nvPr/>
        </p:nvSpPr>
        <p:spPr>
          <a:xfrm>
            <a:off x="4372262" y="4865676"/>
            <a:ext cx="243504" cy="8545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Runoff recharge</a:t>
            </a: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F36C4370-9E0B-7DC0-3B3A-014B72F90094}"/>
              </a:ext>
            </a:extLst>
          </p:cNvPr>
          <p:cNvCxnSpPr>
            <a:cxnSpLocks/>
            <a:endCxn id="210" idx="0"/>
          </p:cNvCxnSpPr>
          <p:nvPr/>
        </p:nvCxnSpPr>
        <p:spPr>
          <a:xfrm>
            <a:off x="4494014" y="4315337"/>
            <a:ext cx="0" cy="5503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08CD06E2-A188-7F56-C512-EBE6008CA51A}"/>
              </a:ext>
            </a:extLst>
          </p:cNvPr>
          <p:cNvCxnSpPr>
            <a:cxnSpLocks/>
            <a:endCxn id="209" idx="0"/>
          </p:cNvCxnSpPr>
          <p:nvPr/>
        </p:nvCxnSpPr>
        <p:spPr>
          <a:xfrm>
            <a:off x="3440430" y="4383425"/>
            <a:ext cx="523156" cy="3858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2558FDDF-EA3A-72C2-E746-E386A6C070BB}"/>
              </a:ext>
            </a:extLst>
          </p:cNvPr>
          <p:cNvSpPr/>
          <p:nvPr/>
        </p:nvSpPr>
        <p:spPr>
          <a:xfrm>
            <a:off x="2737819" y="5004699"/>
            <a:ext cx="467961" cy="2966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SMD</a:t>
            </a: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D962D2B9-DD6A-485D-CA7A-419E512BD68A}"/>
              </a:ext>
            </a:extLst>
          </p:cNvPr>
          <p:cNvCxnSpPr>
            <a:stCxn id="221" idx="0"/>
            <a:endCxn id="172" idx="2"/>
          </p:cNvCxnSpPr>
          <p:nvPr/>
        </p:nvCxnSpPr>
        <p:spPr>
          <a:xfrm flipV="1">
            <a:off x="2971800" y="4463673"/>
            <a:ext cx="0" cy="541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8F6E2478-A886-0906-E82D-3DBF27729C80}"/>
              </a:ext>
            </a:extLst>
          </p:cNvPr>
          <p:cNvSpPr/>
          <p:nvPr/>
        </p:nvSpPr>
        <p:spPr>
          <a:xfrm>
            <a:off x="2504440" y="5664976"/>
            <a:ext cx="934720" cy="2966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FAO primary reservoir [PE*]</a:t>
            </a:r>
          </a:p>
        </p:txBody>
      </p: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AD76F032-8197-4531-1292-915DAF1E0205}"/>
              </a:ext>
            </a:extLst>
          </p:cNvPr>
          <p:cNvCxnSpPr>
            <a:stCxn id="221" idx="2"/>
            <a:endCxn id="224" idx="0"/>
          </p:cNvCxnSpPr>
          <p:nvPr/>
        </p:nvCxnSpPr>
        <p:spPr>
          <a:xfrm>
            <a:off x="2971800" y="5301369"/>
            <a:ext cx="0" cy="3636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1906A020-B1CC-7AA7-0945-0747EBC9DFDA}"/>
              </a:ext>
            </a:extLst>
          </p:cNvPr>
          <p:cNvSpPr txBox="1"/>
          <p:nvPr/>
        </p:nvSpPr>
        <p:spPr>
          <a:xfrm>
            <a:off x="911048" y="5644033"/>
            <a:ext cx="105218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Vegetation derived evapotranspiration</a:t>
            </a:r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02E0FD00-22B5-2A10-48A8-14DF16AA2978}"/>
              </a:ext>
            </a:extLst>
          </p:cNvPr>
          <p:cNvGrpSpPr/>
          <p:nvPr/>
        </p:nvGrpSpPr>
        <p:grpSpPr>
          <a:xfrm>
            <a:off x="1963234" y="5610242"/>
            <a:ext cx="566606" cy="406137"/>
            <a:chOff x="2008893" y="1772034"/>
            <a:chExt cx="566606" cy="406137"/>
          </a:xfrm>
        </p:grpSpPr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422EB559-C12D-EF85-C6E6-E9016B8B2AC7}"/>
                </a:ext>
              </a:extLst>
            </p:cNvPr>
            <p:cNvCxnSpPr>
              <a:cxnSpLocks/>
              <a:stCxn id="235" idx="1"/>
              <a:endCxn id="232" idx="3"/>
            </p:cNvCxnSpPr>
            <p:nvPr/>
          </p:nvCxnSpPr>
          <p:spPr>
            <a:xfrm flipH="1" flipV="1">
              <a:off x="2008893" y="1970022"/>
              <a:ext cx="456116" cy="50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Left Bracket 234">
              <a:extLst>
                <a:ext uri="{FF2B5EF4-FFF2-40B4-BE49-F238E27FC236}">
                  <a16:creationId xmlns:a16="http://schemas.microsoft.com/office/drawing/2014/main" id="{B4DF1FB9-AA6E-8BF6-BDA9-C4119F866ED8}"/>
                </a:ext>
              </a:extLst>
            </p:cNvPr>
            <p:cNvSpPr/>
            <p:nvPr/>
          </p:nvSpPr>
          <p:spPr>
            <a:xfrm>
              <a:off x="2465009" y="1772034"/>
              <a:ext cx="110490" cy="406137"/>
            </a:xfrm>
            <a:prstGeom prst="leftBracket">
              <a:avLst>
                <a:gd name="adj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41" name="Connector: Elbow 240">
            <a:extLst>
              <a:ext uri="{FF2B5EF4-FFF2-40B4-BE49-F238E27FC236}">
                <a16:creationId xmlns:a16="http://schemas.microsoft.com/office/drawing/2014/main" id="{773F3F31-6F79-4B8F-08EF-0C4BE6175ACC}"/>
              </a:ext>
            </a:extLst>
          </p:cNvPr>
          <p:cNvCxnSpPr>
            <a:cxnSpLocks/>
            <a:stCxn id="232" idx="1"/>
            <a:endCxn id="16" idx="1"/>
          </p:cNvCxnSpPr>
          <p:nvPr/>
        </p:nvCxnSpPr>
        <p:spPr>
          <a:xfrm rot="10800000">
            <a:off x="591312" y="1391920"/>
            <a:ext cx="319736" cy="4421390"/>
          </a:xfrm>
          <a:prstGeom prst="bentConnector3">
            <a:avLst>
              <a:gd name="adj1" fmla="val 2191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598479BB-8503-7287-2694-E3861A56D50B}"/>
              </a:ext>
            </a:extLst>
          </p:cNvPr>
          <p:cNvSpPr/>
          <p:nvPr/>
        </p:nvSpPr>
        <p:spPr>
          <a:xfrm>
            <a:off x="2505710" y="6618265"/>
            <a:ext cx="934720" cy="2966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Interflow reservoir</a:t>
            </a:r>
          </a:p>
        </p:txBody>
      </p: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903DED3D-D98F-6BEC-D852-975F905B36E4}"/>
              </a:ext>
            </a:extLst>
          </p:cNvPr>
          <p:cNvCxnSpPr>
            <a:stCxn id="224" idx="2"/>
            <a:endCxn id="244" idx="0"/>
          </p:cNvCxnSpPr>
          <p:nvPr/>
        </p:nvCxnSpPr>
        <p:spPr>
          <a:xfrm>
            <a:off x="2971800" y="5961646"/>
            <a:ext cx="1270" cy="656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val 246">
            <a:extLst>
              <a:ext uri="{FF2B5EF4-FFF2-40B4-BE49-F238E27FC236}">
                <a16:creationId xmlns:a16="http://schemas.microsoft.com/office/drawing/2014/main" id="{9CE4DF23-6787-C824-1759-47117C3C932D}"/>
              </a:ext>
            </a:extLst>
          </p:cNvPr>
          <p:cNvSpPr/>
          <p:nvPr/>
        </p:nvSpPr>
        <p:spPr>
          <a:xfrm>
            <a:off x="1887918" y="6471316"/>
            <a:ext cx="340362" cy="6126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Bypass</a:t>
            </a:r>
          </a:p>
        </p:txBody>
      </p:sp>
      <p:cxnSp>
        <p:nvCxnSpPr>
          <p:cNvPr id="248" name="Connector: Elbow 247">
            <a:extLst>
              <a:ext uri="{FF2B5EF4-FFF2-40B4-BE49-F238E27FC236}">
                <a16:creationId xmlns:a16="http://schemas.microsoft.com/office/drawing/2014/main" id="{2856FCAD-BBCF-D17E-2801-2D40334E7C61}"/>
              </a:ext>
            </a:extLst>
          </p:cNvPr>
          <p:cNvCxnSpPr>
            <a:cxnSpLocks/>
            <a:endCxn id="247" idx="0"/>
          </p:cNvCxnSpPr>
          <p:nvPr/>
        </p:nvCxnSpPr>
        <p:spPr>
          <a:xfrm rot="10800000" flipV="1">
            <a:off x="2058100" y="6249132"/>
            <a:ext cx="913701" cy="22218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B74203AF-78C6-732A-A3A1-CC18C9A23E47}"/>
              </a:ext>
            </a:extLst>
          </p:cNvPr>
          <p:cNvCxnSpPr>
            <a:cxnSpLocks/>
            <a:stCxn id="247" idx="4"/>
          </p:cNvCxnSpPr>
          <p:nvPr/>
        </p:nvCxnSpPr>
        <p:spPr>
          <a:xfrm rot="16200000" flipH="1">
            <a:off x="2439970" y="6702093"/>
            <a:ext cx="149959" cy="9137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Rectangle: Rounded Corners 250">
            <a:extLst>
              <a:ext uri="{FF2B5EF4-FFF2-40B4-BE49-F238E27FC236}">
                <a16:creationId xmlns:a16="http://schemas.microsoft.com/office/drawing/2014/main" id="{DE542401-AD5C-05A5-8EA2-7ED3D8D2DF44}"/>
              </a:ext>
            </a:extLst>
          </p:cNvPr>
          <p:cNvSpPr/>
          <p:nvPr/>
        </p:nvSpPr>
        <p:spPr>
          <a:xfrm>
            <a:off x="2317241" y="8271149"/>
            <a:ext cx="1309116" cy="2966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Unsaturated attenuation of recharge</a:t>
            </a:r>
          </a:p>
        </p:txBody>
      </p: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B413381D-34F2-96FB-3FBA-8E6FB3230995}"/>
              </a:ext>
            </a:extLst>
          </p:cNvPr>
          <p:cNvCxnSpPr>
            <a:stCxn id="244" idx="2"/>
            <a:endCxn id="251" idx="0"/>
          </p:cNvCxnSpPr>
          <p:nvPr/>
        </p:nvCxnSpPr>
        <p:spPr>
          <a:xfrm flipH="1">
            <a:off x="2971799" y="6914935"/>
            <a:ext cx="1271" cy="13562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D1653E99-F587-6C7D-5C5E-CD770257EC21}"/>
              </a:ext>
            </a:extLst>
          </p:cNvPr>
          <p:cNvSpPr/>
          <p:nvPr/>
        </p:nvSpPr>
        <p:spPr>
          <a:xfrm>
            <a:off x="350089" y="6234695"/>
            <a:ext cx="1121918" cy="37749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 root zone leakage</a:t>
            </a:r>
          </a:p>
        </p:txBody>
      </p:sp>
      <p:cxnSp>
        <p:nvCxnSpPr>
          <p:cNvPr id="257" name="Connector: Elbow 256">
            <a:extLst>
              <a:ext uri="{FF2B5EF4-FFF2-40B4-BE49-F238E27FC236}">
                <a16:creationId xmlns:a16="http://schemas.microsoft.com/office/drawing/2014/main" id="{AAF7CEC1-012F-3EE6-AE7D-F2DF87191C3C}"/>
              </a:ext>
            </a:extLst>
          </p:cNvPr>
          <p:cNvCxnSpPr>
            <a:cxnSpLocks/>
            <a:stCxn id="255" idx="6"/>
          </p:cNvCxnSpPr>
          <p:nvPr/>
        </p:nvCxnSpPr>
        <p:spPr>
          <a:xfrm flipV="1">
            <a:off x="1472007" y="6129414"/>
            <a:ext cx="1498524" cy="294029"/>
          </a:xfrm>
          <a:prstGeom prst="bentConnector3">
            <a:avLst>
              <a:gd name="adj1" fmla="val 235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: Elbow 261">
            <a:extLst>
              <a:ext uri="{FF2B5EF4-FFF2-40B4-BE49-F238E27FC236}">
                <a16:creationId xmlns:a16="http://schemas.microsoft.com/office/drawing/2014/main" id="{3F58E660-CA89-8DBB-88C2-22E6C46A1735}"/>
              </a:ext>
            </a:extLst>
          </p:cNvPr>
          <p:cNvCxnSpPr>
            <a:cxnSpLocks/>
            <a:stCxn id="244" idx="3"/>
          </p:cNvCxnSpPr>
          <p:nvPr/>
        </p:nvCxnSpPr>
        <p:spPr>
          <a:xfrm flipV="1">
            <a:off x="3440430" y="4315337"/>
            <a:ext cx="1351025" cy="245126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13D6F365-1456-638F-3963-689FF233BE97}"/>
              </a:ext>
            </a:extLst>
          </p:cNvPr>
          <p:cNvSpPr/>
          <p:nvPr/>
        </p:nvSpPr>
        <p:spPr>
          <a:xfrm>
            <a:off x="3543296" y="7605455"/>
            <a:ext cx="825254" cy="5243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Proportion subject to recharge attenuation</a:t>
            </a:r>
          </a:p>
        </p:txBody>
      </p: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342583D7-A86B-E2DE-FF21-781DDB1766AF}"/>
              </a:ext>
            </a:extLst>
          </p:cNvPr>
          <p:cNvCxnSpPr>
            <a:cxnSpLocks/>
            <a:stCxn id="268" idx="1"/>
          </p:cNvCxnSpPr>
          <p:nvPr/>
        </p:nvCxnSpPr>
        <p:spPr>
          <a:xfrm flipH="1">
            <a:off x="2970531" y="7867614"/>
            <a:ext cx="5727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98FB8068-0AFD-191E-7B37-6396BD9447B7}"/>
              </a:ext>
            </a:extLst>
          </p:cNvPr>
          <p:cNvGrpSpPr/>
          <p:nvPr/>
        </p:nvGrpSpPr>
        <p:grpSpPr>
          <a:xfrm>
            <a:off x="3879195" y="5807833"/>
            <a:ext cx="158622" cy="1797622"/>
            <a:chOff x="3955395" y="5807833"/>
            <a:chExt cx="158622" cy="1797622"/>
          </a:xfrm>
        </p:grpSpPr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A4F929EF-B687-2F4E-D8D3-858289E00B84}"/>
                </a:ext>
              </a:extLst>
            </p:cNvPr>
            <p:cNvCxnSpPr>
              <a:cxnSpLocks/>
              <a:stCxn id="273" idx="2"/>
              <a:endCxn id="268" idx="0"/>
            </p:cNvCxnSpPr>
            <p:nvPr/>
          </p:nvCxnSpPr>
          <p:spPr>
            <a:xfrm flipH="1">
              <a:off x="4032123" y="6879536"/>
              <a:ext cx="3026" cy="7259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Arc 272">
              <a:extLst>
                <a:ext uri="{FF2B5EF4-FFF2-40B4-BE49-F238E27FC236}">
                  <a16:creationId xmlns:a16="http://schemas.microsoft.com/office/drawing/2014/main" id="{7767ED69-8A7B-A72E-271C-4155AC772088}"/>
                </a:ext>
              </a:extLst>
            </p:cNvPr>
            <p:cNvSpPr/>
            <p:nvPr/>
          </p:nvSpPr>
          <p:spPr>
            <a:xfrm>
              <a:off x="3955395" y="6654963"/>
              <a:ext cx="158622" cy="224575"/>
            </a:xfrm>
            <a:prstGeom prst="arc">
              <a:avLst>
                <a:gd name="adj1" fmla="val 16200000"/>
                <a:gd name="adj2" fmla="val 538644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32486928-DF30-A69D-098D-25955B59D21D}"/>
                </a:ext>
              </a:extLst>
            </p:cNvPr>
            <p:cNvCxnSpPr>
              <a:stCxn id="209" idx="2"/>
              <a:endCxn id="273" idx="0"/>
            </p:cNvCxnSpPr>
            <p:nvPr/>
          </p:nvCxnSpPr>
          <p:spPr>
            <a:xfrm flipH="1">
              <a:off x="4034706" y="5807833"/>
              <a:ext cx="5080" cy="8471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8" name="Oval 277">
            <a:extLst>
              <a:ext uri="{FF2B5EF4-FFF2-40B4-BE49-F238E27FC236}">
                <a16:creationId xmlns:a16="http://schemas.microsoft.com/office/drawing/2014/main" id="{6717A16A-6485-3BEE-880B-3DC74D160406}"/>
              </a:ext>
            </a:extLst>
          </p:cNvPr>
          <p:cNvSpPr/>
          <p:nvPr/>
        </p:nvSpPr>
        <p:spPr>
          <a:xfrm>
            <a:off x="891669" y="8192413"/>
            <a:ext cx="1070294" cy="4853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Bypass (attenuation disabled)</a:t>
            </a:r>
          </a:p>
        </p:txBody>
      </p: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3D6C7769-8300-8DF3-C70C-176B3A73E799}"/>
              </a:ext>
            </a:extLst>
          </p:cNvPr>
          <p:cNvCxnSpPr>
            <a:cxnSpLocks/>
            <a:endCxn id="278" idx="0"/>
          </p:cNvCxnSpPr>
          <p:nvPr/>
        </p:nvCxnSpPr>
        <p:spPr>
          <a:xfrm rot="10800000" flipV="1">
            <a:off x="1426817" y="8000995"/>
            <a:ext cx="1543719" cy="19141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33645A30-0F81-424A-7F98-904A09912D38}"/>
              </a:ext>
            </a:extLst>
          </p:cNvPr>
          <p:cNvSpPr/>
          <p:nvPr/>
        </p:nvSpPr>
        <p:spPr>
          <a:xfrm>
            <a:off x="2504440" y="9272866"/>
            <a:ext cx="934720" cy="296670"/>
          </a:xfrm>
          <a:prstGeom prst="roundRect">
            <a:avLst/>
          </a:prstGeom>
          <a:solidFill>
            <a:srgbClr val="B17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Recharge to saturated zone</a:t>
            </a:r>
          </a:p>
        </p:txBody>
      </p: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88082A6D-2C6B-80E7-10DF-2C92B9713D3F}"/>
              </a:ext>
            </a:extLst>
          </p:cNvPr>
          <p:cNvCxnSpPr>
            <a:stCxn id="251" idx="2"/>
            <a:endCxn id="283" idx="0"/>
          </p:cNvCxnSpPr>
          <p:nvPr/>
        </p:nvCxnSpPr>
        <p:spPr>
          <a:xfrm>
            <a:off x="2971799" y="8567819"/>
            <a:ext cx="1" cy="705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: Elbow 286">
            <a:extLst>
              <a:ext uri="{FF2B5EF4-FFF2-40B4-BE49-F238E27FC236}">
                <a16:creationId xmlns:a16="http://schemas.microsoft.com/office/drawing/2014/main" id="{6AC42300-20F8-B3D1-6638-0F30435AF57A}"/>
              </a:ext>
            </a:extLst>
          </p:cNvPr>
          <p:cNvCxnSpPr>
            <a:cxnSpLocks/>
            <a:stCxn id="278" idx="4"/>
          </p:cNvCxnSpPr>
          <p:nvPr/>
        </p:nvCxnSpPr>
        <p:spPr>
          <a:xfrm rot="16200000" flipH="1">
            <a:off x="2106514" y="7998043"/>
            <a:ext cx="184318" cy="154371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Rectangle: Rounded Corners 287">
            <a:extLst>
              <a:ext uri="{FF2B5EF4-FFF2-40B4-BE49-F238E27FC236}">
                <a16:creationId xmlns:a16="http://schemas.microsoft.com/office/drawing/2014/main" id="{9CDBA66F-858E-E673-96AE-892664C65D0B}"/>
              </a:ext>
            </a:extLst>
          </p:cNvPr>
          <p:cNvSpPr/>
          <p:nvPr/>
        </p:nvSpPr>
        <p:spPr>
          <a:xfrm>
            <a:off x="5313548" y="7100630"/>
            <a:ext cx="825254" cy="5243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Proportion subject to recharge attenuation</a:t>
            </a:r>
          </a:p>
        </p:txBody>
      </p:sp>
      <p:cxnSp>
        <p:nvCxnSpPr>
          <p:cNvPr id="290" name="Connector: Elbow 289">
            <a:extLst>
              <a:ext uri="{FF2B5EF4-FFF2-40B4-BE49-F238E27FC236}">
                <a16:creationId xmlns:a16="http://schemas.microsoft.com/office/drawing/2014/main" id="{32BDF4F1-7413-9E2A-50D2-A49BDEB785F6}"/>
              </a:ext>
            </a:extLst>
          </p:cNvPr>
          <p:cNvCxnSpPr>
            <a:stCxn id="288" idx="2"/>
            <a:endCxn id="283" idx="3"/>
          </p:cNvCxnSpPr>
          <p:nvPr/>
        </p:nvCxnSpPr>
        <p:spPr>
          <a:xfrm rot="5400000">
            <a:off x="3684542" y="7379567"/>
            <a:ext cx="1796253" cy="228701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0269AD79-6DE1-82ED-17A6-A384ED92B2D4}"/>
              </a:ext>
            </a:extLst>
          </p:cNvPr>
          <p:cNvCxnSpPr>
            <a:stCxn id="206" idx="2"/>
            <a:endCxn id="288" idx="0"/>
          </p:cNvCxnSpPr>
          <p:nvPr/>
        </p:nvCxnSpPr>
        <p:spPr>
          <a:xfrm>
            <a:off x="5726175" y="5718075"/>
            <a:ext cx="0" cy="1382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A7E481C3-CE38-6D62-02EA-165F0286A12F}"/>
              </a:ext>
            </a:extLst>
          </p:cNvPr>
          <p:cNvGrpSpPr/>
          <p:nvPr/>
        </p:nvGrpSpPr>
        <p:grpSpPr>
          <a:xfrm>
            <a:off x="4414703" y="5720257"/>
            <a:ext cx="158622" cy="3700944"/>
            <a:chOff x="4414703" y="5720257"/>
            <a:chExt cx="158622" cy="3700944"/>
          </a:xfrm>
        </p:grpSpPr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621D1DFE-9736-4677-1042-B996E92EB6CB}"/>
                </a:ext>
              </a:extLst>
            </p:cNvPr>
            <p:cNvCxnSpPr>
              <a:cxnSpLocks/>
            </p:cNvCxnSpPr>
            <p:nvPr/>
          </p:nvCxnSpPr>
          <p:spPr>
            <a:xfrm>
              <a:off x="4494014" y="6883463"/>
              <a:ext cx="0" cy="25377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Arc 296">
              <a:extLst>
                <a:ext uri="{FF2B5EF4-FFF2-40B4-BE49-F238E27FC236}">
                  <a16:creationId xmlns:a16="http://schemas.microsoft.com/office/drawing/2014/main" id="{2E8C19CC-1694-3E81-B971-DF84E1FF67CD}"/>
                </a:ext>
              </a:extLst>
            </p:cNvPr>
            <p:cNvSpPr/>
            <p:nvPr/>
          </p:nvSpPr>
          <p:spPr>
            <a:xfrm>
              <a:off x="4414703" y="6658888"/>
              <a:ext cx="158622" cy="224575"/>
            </a:xfrm>
            <a:prstGeom prst="arc">
              <a:avLst>
                <a:gd name="adj1" fmla="val 16200000"/>
                <a:gd name="adj2" fmla="val 538644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B58BE1D0-6F16-B8EE-47C8-64696AEF41E5}"/>
                </a:ext>
              </a:extLst>
            </p:cNvPr>
            <p:cNvCxnSpPr>
              <a:cxnSpLocks/>
              <a:stCxn id="210" idx="2"/>
              <a:endCxn id="297" idx="0"/>
            </p:cNvCxnSpPr>
            <p:nvPr/>
          </p:nvCxnSpPr>
          <p:spPr>
            <a:xfrm>
              <a:off x="4494014" y="5720257"/>
              <a:ext cx="0" cy="9386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4EAB9256-D3CB-DC79-DE22-58AB7EAEE341}"/>
              </a:ext>
            </a:extLst>
          </p:cNvPr>
          <p:cNvCxnSpPr>
            <a:stCxn id="268" idx="2"/>
          </p:cNvCxnSpPr>
          <p:nvPr/>
        </p:nvCxnSpPr>
        <p:spPr>
          <a:xfrm>
            <a:off x="3955923" y="8129773"/>
            <a:ext cx="7663" cy="12914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29DB477D-5DDC-A3FF-8654-B9D287FC539A}"/>
              </a:ext>
            </a:extLst>
          </p:cNvPr>
          <p:cNvGrpSpPr/>
          <p:nvPr/>
        </p:nvGrpSpPr>
        <p:grpSpPr>
          <a:xfrm>
            <a:off x="2970531" y="7281079"/>
            <a:ext cx="2343017" cy="162926"/>
            <a:chOff x="2970531" y="7281079"/>
            <a:chExt cx="2343017" cy="162926"/>
          </a:xfrm>
        </p:grpSpPr>
        <p:sp>
          <p:nvSpPr>
            <p:cNvPr id="304" name="Arc 303">
              <a:extLst>
                <a:ext uri="{FF2B5EF4-FFF2-40B4-BE49-F238E27FC236}">
                  <a16:creationId xmlns:a16="http://schemas.microsoft.com/office/drawing/2014/main" id="{251B3EB6-1C51-A089-C8C4-980B68A516F5}"/>
                </a:ext>
              </a:extLst>
            </p:cNvPr>
            <p:cNvSpPr/>
            <p:nvPr/>
          </p:nvSpPr>
          <p:spPr>
            <a:xfrm rot="16200000">
              <a:off x="3878517" y="7252406"/>
              <a:ext cx="158622" cy="224575"/>
            </a:xfrm>
            <a:prstGeom prst="arc">
              <a:avLst>
                <a:gd name="adj1" fmla="val 16200000"/>
                <a:gd name="adj2" fmla="val 538644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DBAE7F86-F61D-7764-B1DD-74BB16449C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0531" y="7364694"/>
              <a:ext cx="87500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Arc 306">
              <a:extLst>
                <a:ext uri="{FF2B5EF4-FFF2-40B4-BE49-F238E27FC236}">
                  <a16:creationId xmlns:a16="http://schemas.microsoft.com/office/drawing/2014/main" id="{DFD260C0-57D7-19D8-7123-8F9C54810184}"/>
                </a:ext>
              </a:extLst>
            </p:cNvPr>
            <p:cNvSpPr/>
            <p:nvPr/>
          </p:nvSpPr>
          <p:spPr>
            <a:xfrm rot="16200000">
              <a:off x="4412954" y="7248102"/>
              <a:ext cx="158622" cy="224575"/>
            </a:xfrm>
            <a:prstGeom prst="arc">
              <a:avLst>
                <a:gd name="adj1" fmla="val 16200000"/>
                <a:gd name="adj2" fmla="val 552201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668C21D8-FF00-CE31-8030-C6CAE8BD5A39}"/>
                </a:ext>
              </a:extLst>
            </p:cNvPr>
            <p:cNvCxnSpPr>
              <a:endCxn id="307" idx="0"/>
            </p:cNvCxnSpPr>
            <p:nvPr/>
          </p:nvCxnSpPr>
          <p:spPr>
            <a:xfrm>
              <a:off x="4070116" y="7360389"/>
              <a:ext cx="309862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99D82753-3D2E-98F5-78E4-4D3734182C66}"/>
                </a:ext>
              </a:extLst>
            </p:cNvPr>
            <p:cNvCxnSpPr>
              <a:cxnSpLocks/>
              <a:endCxn id="288" idx="1"/>
            </p:cNvCxnSpPr>
            <p:nvPr/>
          </p:nvCxnSpPr>
          <p:spPr>
            <a:xfrm>
              <a:off x="4604553" y="7362789"/>
              <a:ext cx="7089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5" name="Rectangle: Rounded Corners 314">
            <a:extLst>
              <a:ext uri="{FF2B5EF4-FFF2-40B4-BE49-F238E27FC236}">
                <a16:creationId xmlns:a16="http://schemas.microsoft.com/office/drawing/2014/main" id="{AE850EB0-ED04-AAF1-23AC-0CF0B0A11EED}"/>
              </a:ext>
            </a:extLst>
          </p:cNvPr>
          <p:cNvSpPr/>
          <p:nvPr/>
        </p:nvSpPr>
        <p:spPr>
          <a:xfrm>
            <a:off x="2504440" y="10088880"/>
            <a:ext cx="934720" cy="29667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MODFLOW</a:t>
            </a:r>
          </a:p>
        </p:txBody>
      </p:sp>
      <p:sp>
        <p:nvSpPr>
          <p:cNvPr id="316" name="Rectangle: Rounded Corners 315">
            <a:extLst>
              <a:ext uri="{FF2B5EF4-FFF2-40B4-BE49-F238E27FC236}">
                <a16:creationId xmlns:a16="http://schemas.microsoft.com/office/drawing/2014/main" id="{0B4CB966-311C-7273-9553-2902E20ED597}"/>
              </a:ext>
            </a:extLst>
          </p:cNvPr>
          <p:cNvSpPr/>
          <p:nvPr/>
        </p:nvSpPr>
        <p:spPr>
          <a:xfrm>
            <a:off x="4420964" y="10088880"/>
            <a:ext cx="1096424" cy="29667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Combined surface water flow</a:t>
            </a: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3084C82E-D0C2-6371-B994-6692B5F85EE8}"/>
              </a:ext>
            </a:extLst>
          </p:cNvPr>
          <p:cNvCxnSpPr>
            <a:stCxn id="315" idx="3"/>
            <a:endCxn id="316" idx="1"/>
          </p:cNvCxnSpPr>
          <p:nvPr/>
        </p:nvCxnSpPr>
        <p:spPr>
          <a:xfrm>
            <a:off x="3439160" y="10237215"/>
            <a:ext cx="98180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1201D441-F08C-1E6C-3963-0B101D5875E1}"/>
              </a:ext>
            </a:extLst>
          </p:cNvPr>
          <p:cNvCxnSpPr>
            <a:stCxn id="283" idx="2"/>
            <a:endCxn id="315" idx="0"/>
          </p:cNvCxnSpPr>
          <p:nvPr/>
        </p:nvCxnSpPr>
        <p:spPr>
          <a:xfrm>
            <a:off x="2971800" y="9569536"/>
            <a:ext cx="0" cy="5193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AF834A0C-62CB-1F8B-1903-739EC7D859D7}"/>
              </a:ext>
            </a:extLst>
          </p:cNvPr>
          <p:cNvSpPr txBox="1"/>
          <p:nvPr/>
        </p:nvSpPr>
        <p:spPr>
          <a:xfrm>
            <a:off x="3595324" y="10023492"/>
            <a:ext cx="66947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Baseflow</a:t>
            </a:r>
          </a:p>
        </p:txBody>
      </p:sp>
      <p:cxnSp>
        <p:nvCxnSpPr>
          <p:cNvPr id="325" name="Connector: Elbow 324">
            <a:extLst>
              <a:ext uri="{FF2B5EF4-FFF2-40B4-BE49-F238E27FC236}">
                <a16:creationId xmlns:a16="http://schemas.microsoft.com/office/drawing/2014/main" id="{8D06EAD5-2618-A69F-6263-FB937F9C8863}"/>
              </a:ext>
            </a:extLst>
          </p:cNvPr>
          <p:cNvCxnSpPr>
            <a:stCxn id="206" idx="3"/>
            <a:endCxn id="316" idx="3"/>
          </p:cNvCxnSpPr>
          <p:nvPr/>
        </p:nvCxnSpPr>
        <p:spPr>
          <a:xfrm flipH="1">
            <a:off x="5517388" y="5604911"/>
            <a:ext cx="676147" cy="4632304"/>
          </a:xfrm>
          <a:prstGeom prst="bentConnector3">
            <a:avLst>
              <a:gd name="adj1" fmla="val -5815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Box 326">
            <a:extLst>
              <a:ext uri="{FF2B5EF4-FFF2-40B4-BE49-F238E27FC236}">
                <a16:creationId xmlns:a16="http://schemas.microsoft.com/office/drawing/2014/main" id="{F38F5668-E6CD-B0A9-5BB4-0344A2F0B5EC}"/>
              </a:ext>
            </a:extLst>
          </p:cNvPr>
          <p:cNvSpPr txBox="1"/>
          <p:nvPr/>
        </p:nvSpPr>
        <p:spPr>
          <a:xfrm>
            <a:off x="5569802" y="10052549"/>
            <a:ext cx="109642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Surface component</a:t>
            </a:r>
          </a:p>
          <a:p>
            <a:pPr algn="ctr"/>
            <a:endParaRPr lang="en-GB" sz="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of flow</a:t>
            </a:r>
          </a:p>
        </p:txBody>
      </p:sp>
    </p:spTree>
    <p:extLst>
      <p:ext uri="{BB962C8B-B14F-4D97-AF65-F5344CB8AC3E}">
        <p14:creationId xmlns:p14="http://schemas.microsoft.com/office/powerpoint/2010/main" val="1451555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546</TotalTime>
  <Words>108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 Graham</dc:creator>
  <cp:lastModifiedBy>Charalampos Ntigkakis</cp:lastModifiedBy>
  <cp:revision>27</cp:revision>
  <dcterms:created xsi:type="dcterms:W3CDTF">2020-11-05T15:18:41Z</dcterms:created>
  <dcterms:modified xsi:type="dcterms:W3CDTF">2025-04-29T11:39:13Z</dcterms:modified>
</cp:coreProperties>
</file>